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9327007fb4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9327007fb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327007fb4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327007fb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331cdab99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331cdab99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331cdab99_0_3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331cdab99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331cdab99_0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331cdab99_0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33f4359fe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33f4359fe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33f4359f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933f4359f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933f4359fe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933f4359fe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33f4359f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33f4359f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33f4359f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33f4359f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95300" y="3019025"/>
            <a:ext cx="7553400" cy="5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 [Laura Quintero, Andrés P. Salinas -</a:t>
            </a:r>
            <a:r>
              <a:rPr lang="es" sz="1800">
                <a:solidFill>
                  <a:schemeClr val="dk1"/>
                </a:solidFill>
              </a:rPr>
              <a:t> apiscognos team] - [28/01/2026]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>
            <p:ph type="ctrTitle"/>
          </p:nvPr>
        </p:nvSpPr>
        <p:spPr>
          <a:xfrm>
            <a:off x="462000" y="826975"/>
            <a:ext cx="8220000" cy="98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000"/>
              <a:t>Strategic E-Commerce Analysis: Unlocking Value &amp; Operational Efficiency</a:t>
            </a:r>
            <a:endParaRPr b="1" sz="30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761300" y="2113499"/>
            <a:ext cx="78015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 Insights on Revenue Drivers, Customer Segmentation, and Satisfaction Opportunities for an English Clothing E-Commerce Company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940500" y="402450"/>
            <a:ext cx="6390600" cy="6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Executive Summary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872375" y="1219325"/>
            <a:ext cx="7112100" cy="1292700"/>
          </a:xfrm>
          <a:prstGeom prst="rect">
            <a:avLst/>
          </a:prstGeom>
        </p:spPr>
        <p:txBody>
          <a:bodyPr anchorCtr="0" anchor="t" bIns="91925" lIns="91925" spcFirstLastPara="1" rIns="91925" wrap="square" tIns="919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7"/>
              </a:spcAft>
              <a:buNone/>
            </a:pPr>
            <a:r>
              <a:rPr lang="es" sz="1508">
                <a:solidFill>
                  <a:schemeClr val="dk1"/>
                </a:solidFill>
              </a:rPr>
              <a:t>The business has achieved a robust </a:t>
            </a:r>
            <a:r>
              <a:rPr b="1" lang="es" sz="1508">
                <a:solidFill>
                  <a:schemeClr val="dk1"/>
                </a:solidFill>
              </a:rPr>
              <a:t>£4.89M in total revenue</a:t>
            </a:r>
            <a:r>
              <a:rPr lang="es" sz="1508">
                <a:solidFill>
                  <a:schemeClr val="dk1"/>
                </a:solidFill>
              </a:rPr>
              <a:t> across </a:t>
            </a:r>
            <a:r>
              <a:rPr b="1" lang="es" sz="1508">
                <a:solidFill>
                  <a:schemeClr val="dk1"/>
                </a:solidFill>
              </a:rPr>
              <a:t>50,000 transactions</a:t>
            </a:r>
            <a:r>
              <a:rPr lang="es" sz="1508">
                <a:solidFill>
                  <a:schemeClr val="dk1"/>
                </a:solidFill>
              </a:rPr>
              <a:t>, maintaining a healthy </a:t>
            </a:r>
            <a:r>
              <a:rPr b="1" lang="es" sz="1508">
                <a:solidFill>
                  <a:schemeClr val="dk1"/>
                </a:solidFill>
              </a:rPr>
              <a:t>3.9/5 satisfaction rating</a:t>
            </a:r>
            <a:r>
              <a:rPr lang="es" sz="1508">
                <a:solidFill>
                  <a:schemeClr val="dk1"/>
                </a:solidFill>
              </a:rPr>
              <a:t>. While the operational engine is stable, there is a clear "Value Gap" in our subscription model that represents our largest immediate growth opportunity.</a:t>
            </a:r>
            <a:endParaRPr b="1" sz="1508">
              <a:solidFill>
                <a:srgbClr val="101218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872375" y="3462624"/>
            <a:ext cx="7112100" cy="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925" lIns="91925" spcFirstLastPara="1" rIns="91925" wrap="square" tIns="919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8">
                <a:solidFill>
                  <a:schemeClr val="dk1"/>
                </a:solidFill>
              </a:rPr>
              <a:t>The business is well-established but currently operates on a transactional basis. To scale, we must pivot from "volume-chasing" to "value-deepening," specifically targeting the under-monetized subscriber segment.</a:t>
            </a:r>
            <a:endParaRPr sz="1508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969" y="2512126"/>
            <a:ext cx="6487030" cy="7991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584200" y="473350"/>
            <a:ext cx="7487400" cy="5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Main Business Question</a:t>
            </a:r>
            <a:endParaRPr b="1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626775" y="1776050"/>
            <a:ext cx="7179300" cy="18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i="1" lang="es" sz="2700">
                <a:solidFill>
                  <a:schemeClr val="dk1"/>
                </a:solidFill>
              </a:rPr>
              <a:t>Which products, customers, and moments drive the highest revenue, AOV, average rating, and how to increase those?</a:t>
            </a:r>
            <a:endParaRPr b="1" i="1" sz="2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729450" y="223000"/>
            <a:ext cx="7688700" cy="73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The Star Products </a:t>
            </a:r>
            <a:endParaRPr b="1"/>
          </a:p>
        </p:txBody>
      </p:sp>
      <p:sp>
        <p:nvSpPr>
          <p:cNvPr id="76" name="Google Shape;76;p16"/>
          <p:cNvSpPr txBox="1"/>
          <p:nvPr/>
        </p:nvSpPr>
        <p:spPr>
          <a:xfrm>
            <a:off x="729450" y="1006425"/>
            <a:ext cx="7786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Star products show a </a:t>
            </a:r>
            <a:r>
              <a:rPr b="1" lang="es" sz="1800">
                <a:solidFill>
                  <a:schemeClr val="dk1"/>
                </a:solidFill>
              </a:rPr>
              <a:t>balanced</a:t>
            </a:r>
            <a:r>
              <a:rPr lang="es" sz="1800">
                <a:solidFill>
                  <a:schemeClr val="dk1"/>
                </a:solidFill>
              </a:rPr>
              <a:t> performance, indicating multiple high-value items within the portfolio. However, high-revenue products with lower customer ratings </a:t>
            </a:r>
            <a:r>
              <a:rPr b="1" lang="es" sz="1800">
                <a:solidFill>
                  <a:schemeClr val="dk1"/>
                </a:solidFill>
              </a:rPr>
              <a:t>should be prioritized for improvement</a:t>
            </a:r>
            <a:r>
              <a:rPr lang="es" sz="1800">
                <a:solidFill>
                  <a:schemeClr val="dk1"/>
                </a:solidFill>
              </a:rPr>
              <a:t>, as unresolved satisfaction issues may constrain long-term performance.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2575" y="2571750"/>
            <a:ext cx="3949199" cy="18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626" y="2571750"/>
            <a:ext cx="3217950" cy="18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597950" y="247150"/>
            <a:ext cx="8199600" cy="121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Maximize profitability by aligning pricing with demand</a:t>
            </a:r>
            <a:endParaRPr b="1"/>
          </a:p>
        </p:txBody>
      </p:sp>
      <p:sp>
        <p:nvSpPr>
          <p:cNvPr id="84" name="Google Shape;84;p17"/>
          <p:cNvSpPr txBox="1"/>
          <p:nvPr/>
        </p:nvSpPr>
        <p:spPr>
          <a:xfrm>
            <a:off x="656300" y="1278750"/>
            <a:ext cx="80829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700">
                <a:solidFill>
                  <a:schemeClr val="dk1"/>
                </a:solidFill>
              </a:rPr>
              <a:t>Closing the gap</a:t>
            </a:r>
            <a:r>
              <a:rPr lang="es" sz="1700">
                <a:solidFill>
                  <a:schemeClr val="dk1"/>
                </a:solidFill>
              </a:rPr>
              <a:t> on </a:t>
            </a:r>
            <a:r>
              <a:rPr b="1" lang="es" sz="1700">
                <a:solidFill>
                  <a:schemeClr val="dk1"/>
                </a:solidFill>
              </a:rPr>
              <a:t>high-volume</a:t>
            </a:r>
            <a:r>
              <a:rPr lang="es" sz="1700">
                <a:solidFill>
                  <a:schemeClr val="dk1"/>
                </a:solidFill>
              </a:rPr>
              <a:t> products that aren't reaching their full </a:t>
            </a:r>
            <a:r>
              <a:rPr b="1" lang="es" sz="1700">
                <a:solidFill>
                  <a:schemeClr val="dk1"/>
                </a:solidFill>
              </a:rPr>
              <a:t>profit potential</a:t>
            </a:r>
            <a:r>
              <a:rPr lang="es" sz="1700">
                <a:solidFill>
                  <a:schemeClr val="dk1"/>
                </a:solidFill>
              </a:rPr>
              <a:t> through better pricing or bundling is priority. Meanwhile, The company should look to their </a:t>
            </a:r>
            <a:r>
              <a:rPr b="1" lang="es" sz="1700">
                <a:solidFill>
                  <a:schemeClr val="dk1"/>
                </a:solidFill>
              </a:rPr>
              <a:t>high-revenue products</a:t>
            </a:r>
            <a:r>
              <a:rPr lang="es" sz="1700">
                <a:solidFill>
                  <a:schemeClr val="dk1"/>
                </a:solidFill>
              </a:rPr>
              <a:t> as the blueprint for success to see what’s driving their strong performance.</a:t>
            </a:r>
            <a:endParaRPr sz="1700">
              <a:solidFill>
                <a:schemeClr val="dk1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7350" y="2510250"/>
            <a:ext cx="3809298" cy="2126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223000"/>
            <a:ext cx="76887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Autumn is the highest-revenue season, with most sales occurring on weekends</a:t>
            </a:r>
            <a:endParaRPr b="1"/>
          </a:p>
        </p:txBody>
      </p:sp>
      <p:sp>
        <p:nvSpPr>
          <p:cNvPr id="91" name="Google Shape;91;p18"/>
          <p:cNvSpPr txBox="1"/>
          <p:nvPr/>
        </p:nvSpPr>
        <p:spPr>
          <a:xfrm>
            <a:off x="755400" y="1415188"/>
            <a:ext cx="763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We recommend two actions: </a:t>
            </a:r>
            <a:r>
              <a:rPr b="1" lang="es" sz="1800">
                <a:solidFill>
                  <a:schemeClr val="dk1"/>
                </a:solidFill>
              </a:rPr>
              <a:t>Increase staff during weekends </a:t>
            </a:r>
            <a:r>
              <a:rPr lang="es" sz="1800">
                <a:solidFill>
                  <a:schemeClr val="dk1"/>
                </a:solidFill>
              </a:rPr>
              <a:t>to meet peak demand and </a:t>
            </a:r>
            <a:r>
              <a:rPr b="1" lang="es" sz="1800">
                <a:solidFill>
                  <a:schemeClr val="dk1"/>
                </a:solidFill>
              </a:rPr>
              <a:t>develop exclusive products and strategies </a:t>
            </a:r>
            <a:r>
              <a:rPr lang="es" sz="1800">
                <a:solidFill>
                  <a:schemeClr val="dk1"/>
                </a:solidFill>
              </a:rPr>
              <a:t>for low-performing seasons.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92" name="Google Shape;9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0050" y="2641450"/>
            <a:ext cx="3556791" cy="19331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7988" y="2641438"/>
            <a:ext cx="3444001" cy="1933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729450" y="223000"/>
            <a:ext cx="76887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The customer base is nearly balanced</a:t>
            </a:r>
            <a:endParaRPr b="1"/>
          </a:p>
        </p:txBody>
      </p:sp>
      <p:sp>
        <p:nvSpPr>
          <p:cNvPr id="99" name="Google Shape;99;p19"/>
          <p:cNvSpPr txBox="1"/>
          <p:nvPr/>
        </p:nvSpPr>
        <p:spPr>
          <a:xfrm>
            <a:off x="729450" y="1131550"/>
            <a:ext cx="7489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Revenue is distributed almost evenly across gender segments.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>
                <a:solidFill>
                  <a:schemeClr val="dk1"/>
                </a:solidFill>
              </a:rPr>
              <a:t>We recommend </a:t>
            </a:r>
            <a:r>
              <a:rPr b="1" lang="es" sz="1800">
                <a:solidFill>
                  <a:schemeClr val="dk1"/>
                </a:solidFill>
              </a:rPr>
              <a:t>strengthening marketing efforts</a:t>
            </a:r>
            <a:r>
              <a:rPr lang="es" sz="1800">
                <a:solidFill>
                  <a:schemeClr val="dk1"/>
                </a:solidFill>
              </a:rPr>
              <a:t> around the most preferred products by gender, particularly</a:t>
            </a:r>
            <a:r>
              <a:rPr b="1" lang="es" sz="1800">
                <a:solidFill>
                  <a:schemeClr val="dk1"/>
                </a:solidFill>
              </a:rPr>
              <a:t> Swimsuits</a:t>
            </a:r>
            <a:r>
              <a:rPr lang="es" sz="1800">
                <a:solidFill>
                  <a:schemeClr val="dk1"/>
                </a:solidFill>
              </a:rPr>
              <a:t> for female customers and </a:t>
            </a:r>
            <a:r>
              <a:rPr b="1" lang="es" sz="1800">
                <a:solidFill>
                  <a:schemeClr val="dk1"/>
                </a:solidFill>
              </a:rPr>
              <a:t>Sneakers</a:t>
            </a:r>
            <a:r>
              <a:rPr lang="es" sz="1800">
                <a:solidFill>
                  <a:schemeClr val="dk1"/>
                </a:solidFill>
              </a:rPr>
              <a:t> for male customers.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300" y="2624800"/>
            <a:ext cx="3600377" cy="20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2550" y="2624800"/>
            <a:ext cx="3846151" cy="20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727650" y="341375"/>
            <a:ext cx="7688700" cy="7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Subs &amp; Non-Subs both spend ~£98 (per capita)</a:t>
            </a:r>
            <a:endParaRPr b="1"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625" y="2571763"/>
            <a:ext cx="3495109" cy="2039223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727650" y="1372400"/>
            <a:ext cx="74115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dk1"/>
                </a:solidFill>
              </a:rPr>
              <a:t>Despite being a</a:t>
            </a:r>
            <a:r>
              <a:rPr b="1" lang="es" sz="1700">
                <a:solidFill>
                  <a:schemeClr val="dk1"/>
                </a:solidFill>
              </a:rPr>
              <a:t> premium minority (20%), </a:t>
            </a:r>
            <a:r>
              <a:rPr lang="es" sz="1700">
                <a:solidFill>
                  <a:schemeClr val="dk1"/>
                </a:solidFill>
              </a:rPr>
              <a:t>the subscription program is </a:t>
            </a:r>
            <a:r>
              <a:rPr b="1" lang="es" sz="1700">
                <a:solidFill>
                  <a:schemeClr val="dk1"/>
                </a:solidFill>
              </a:rPr>
              <a:t>under-optimized</a:t>
            </a:r>
            <a:r>
              <a:rPr lang="es" sz="1700">
                <a:solidFill>
                  <a:schemeClr val="dk1"/>
                </a:solidFill>
              </a:rPr>
              <a:t>. Is needed to introduce exclusive bundles or perks to drive </a:t>
            </a:r>
            <a:r>
              <a:rPr b="1" lang="es" sz="1700">
                <a:solidFill>
                  <a:schemeClr val="dk1"/>
                </a:solidFill>
              </a:rPr>
              <a:t>Subscriber AOV (Average Order Value) higher than non-subscribers.</a:t>
            </a:r>
            <a:endParaRPr b="1" sz="1700">
              <a:solidFill>
                <a:schemeClr val="dk1"/>
              </a:solidFill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603900"/>
            <a:ext cx="3697174" cy="200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729450" y="223000"/>
            <a:ext cx="76887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Geographic Performance</a:t>
            </a:r>
            <a:endParaRPr b="1"/>
          </a:p>
        </p:txBody>
      </p:sp>
      <p:sp>
        <p:nvSpPr>
          <p:cNvPr id="115" name="Google Shape;115;p21"/>
          <p:cNvSpPr txBox="1"/>
          <p:nvPr/>
        </p:nvSpPr>
        <p:spPr>
          <a:xfrm>
            <a:off x="729450" y="1218825"/>
            <a:ext cx="7928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</a:rPr>
              <a:t>While sales scale naturally with city size, the </a:t>
            </a:r>
            <a:r>
              <a:rPr b="1" lang="es" sz="1800">
                <a:solidFill>
                  <a:schemeClr val="dk1"/>
                </a:solidFill>
              </a:rPr>
              <a:t>consistent average ratings</a:t>
            </a:r>
            <a:r>
              <a:rPr lang="es" sz="1800">
                <a:solidFill>
                  <a:schemeClr val="dk1"/>
                </a:solidFill>
              </a:rPr>
              <a:t> show the </a:t>
            </a:r>
            <a:r>
              <a:rPr lang="es" sz="1800">
                <a:solidFill>
                  <a:schemeClr val="dk1"/>
                </a:solidFill>
              </a:rPr>
              <a:t>quality is being maintained </a:t>
            </a:r>
            <a:r>
              <a:rPr lang="es" sz="1800">
                <a:solidFill>
                  <a:schemeClr val="dk1"/>
                </a:solidFill>
              </a:rPr>
              <a:t>across all markets. We recommend leverage this brand stability to</a:t>
            </a:r>
            <a:r>
              <a:rPr b="1" lang="es" sz="1800">
                <a:solidFill>
                  <a:schemeClr val="dk1"/>
                </a:solidFill>
              </a:rPr>
              <a:t> aggressively expand</a:t>
            </a:r>
            <a:r>
              <a:rPr lang="es" sz="1800">
                <a:solidFill>
                  <a:schemeClr val="dk1"/>
                </a:solidFill>
              </a:rPr>
              <a:t> in mid-sized cities where there is high growth potential but lower competition.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16" name="Google Shape;1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3612" y="2755450"/>
            <a:ext cx="3474314" cy="194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7925" y="2755450"/>
            <a:ext cx="3668999" cy="193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729450" y="223000"/>
            <a:ext cx="76887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The Roadmap: </a:t>
            </a:r>
            <a:endParaRPr b="1"/>
          </a:p>
        </p:txBody>
      </p:sp>
      <p:sp>
        <p:nvSpPr>
          <p:cNvPr id="123" name="Google Shape;123;p22"/>
          <p:cNvSpPr txBox="1"/>
          <p:nvPr/>
        </p:nvSpPr>
        <p:spPr>
          <a:xfrm>
            <a:off x="755400" y="1477863"/>
            <a:ext cx="76368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b="1" lang="es" sz="1800">
                <a:solidFill>
                  <a:schemeClr val="dk1"/>
                </a:solidFill>
              </a:rPr>
              <a:t>Short-Term: </a:t>
            </a:r>
            <a:r>
              <a:rPr lang="es" sz="1800">
                <a:solidFill>
                  <a:schemeClr val="dk1"/>
                </a:solidFill>
              </a:rPr>
              <a:t>Match staffing to weekend peaks and launch subscriber perks to boost spend.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b="1" lang="es" sz="1800">
                <a:solidFill>
                  <a:schemeClr val="dk1"/>
                </a:solidFill>
              </a:rPr>
              <a:t>Mid-Term: </a:t>
            </a:r>
            <a:r>
              <a:rPr lang="es" sz="1800">
                <a:solidFill>
                  <a:schemeClr val="dk1"/>
                </a:solidFill>
              </a:rPr>
              <a:t>Improve low-rated bestsellers and expand into high-growth mid-sized cities.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★"/>
            </a:pPr>
            <a:r>
              <a:rPr b="1" lang="es" sz="1800">
                <a:solidFill>
                  <a:schemeClr val="dk1"/>
                </a:solidFill>
              </a:rPr>
              <a:t>Long-Term:</a:t>
            </a:r>
            <a:r>
              <a:rPr lang="es" sz="1800">
                <a:solidFill>
                  <a:schemeClr val="dk1"/>
                </a:solidFill>
              </a:rPr>
              <a:t> Shift focus to net profit margins and maximize long-term customer loyalty.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/>
        </p:nvSpPr>
        <p:spPr>
          <a:xfrm>
            <a:off x="755400" y="1555959"/>
            <a:ext cx="76368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Methodology: 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Data cleaning in Python and Excel, Warehousing in SQL and Excel and Visualizations in Power BI.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s" sz="1800">
                <a:solidFill>
                  <a:schemeClr val="dk1"/>
                </a:solidFill>
              </a:rPr>
              <a:t>Limitations: 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Synthetic</a:t>
            </a:r>
            <a:r>
              <a:rPr lang="es" sz="1800">
                <a:solidFill>
                  <a:schemeClr val="dk1"/>
                </a:solidFill>
              </a:rPr>
              <a:t> dataset, It </a:t>
            </a:r>
            <a:r>
              <a:rPr lang="es" sz="1800">
                <a:solidFill>
                  <a:schemeClr val="dk1"/>
                </a:solidFill>
              </a:rPr>
              <a:t>determined</a:t>
            </a:r>
            <a:r>
              <a:rPr lang="es" sz="1800">
                <a:solidFill>
                  <a:schemeClr val="dk1"/>
                </a:solidFill>
              </a:rPr>
              <a:t> </a:t>
            </a:r>
            <a:r>
              <a:rPr lang="es" sz="1800">
                <a:solidFill>
                  <a:schemeClr val="dk1"/>
                </a:solidFill>
              </a:rPr>
              <a:t>homogeneity</a:t>
            </a:r>
            <a:r>
              <a:rPr lang="es" sz="1800">
                <a:solidFill>
                  <a:schemeClr val="dk1"/>
                </a:solidFill>
              </a:rPr>
              <a:t> of some data.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" sz="1800">
                <a:solidFill>
                  <a:schemeClr val="dk1"/>
                </a:solidFill>
              </a:rPr>
              <a:t>While we started with a standard profit estimate, we know real-world margins vary by product. In our next step, we’ll dive into the specific numbers to give a more accurate picture of our true profitability.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29" name="Google Shape;129;p23"/>
          <p:cNvSpPr txBox="1"/>
          <p:nvPr>
            <p:ph type="title"/>
          </p:nvPr>
        </p:nvSpPr>
        <p:spPr>
          <a:xfrm>
            <a:off x="729450" y="223000"/>
            <a:ext cx="7688700" cy="7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Technical Appendix </a:t>
            </a: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